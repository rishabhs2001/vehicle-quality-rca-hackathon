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00000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Calibri" panose="020F0502020204030204"/>
              </a:rPr>
              <a:t>Supplier Risk — Projected 30-Day Failures</a:t>
            </a:r>
            <a:endParaRPr sz="1100" b="0" i="0" u="none" strike="noStrike">
              <a:solidFill>
                <a:srgbClr val="000000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30-day failures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123 Battery Mfrs</c:v>
                </c:pt>
                <c:pt idx="1">
                  <c:v>ACME Battery</c:v>
                </c:pt>
                <c:pt idx="2">
                  <c:v>800-Battery</c:v>
                </c:pt>
                <c:pt idx="3">
                  <c:v>ABCD Tech</c:v>
                </c:pt>
                <c:pt idx="4">
                  <c:v>WW Batteries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1363.7</c:v>
                </c:pt>
                <c:pt idx="1">
                  <c:v>1285.4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50" b="0" i="0" u="none" strike="noStrike" kern="1200" baseline="0">
                <a:solidFill>
                  <a:srgbClr val="6B728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6B728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fc1f7c4-a848-4371-8b9f-76f2a923468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24316E"/>
          </a:solidFill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24316E"/>
          </a:solidFill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 × CAPGEMINI HACKATHON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332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Vehicle Quality Root Cause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Analysis Platform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quality intelligence for connected vehicles — integrating telemetry, manufacturing, and supplier data to forecast and prevent failures before they reach customers.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</a:t>
            </a:r>
            <a:r>
              <a:rPr lang="en-IN" alt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Snow Coders</a:t>
            </a:r>
            <a:endParaRPr lang="en-IN" altLang="en-US" sz="15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58704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Punith KG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·  </a:t>
            </a:r>
            <a:r>
              <a:rPr lang="en-IN" alt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Yatin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</a:t>
            </a:r>
            <a:r>
              <a:rPr lang="en-IN" alt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Rishabh Shukla </a:t>
            </a:r>
            <a:endParaRPr lang="en-IN" altLang="en-US" sz="115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→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fragmented, reactive data to one predictive agent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420624" cy="420624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691640"/>
            <a:ext cx="48280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Fragmented data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1965960"/>
            <a:ext cx="48280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Telemetry, manufacturing, and supplier data sit in silos — no view connects a failure to its origin.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420624" cy="420624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0" name="Text 8"/>
          <p:cNvSpPr txBox="1"/>
          <p:nvPr/>
        </p:nvSpPr>
        <p:spPr>
          <a:xfrm>
            <a:off x="502920" y="269748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2651760"/>
            <a:ext cx="48280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Reactive, not proactive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2926080"/>
            <a:ext cx="48280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Issues are investigated only after customers report them, once cost and brand damage are locked 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420624" cy="420624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14" name="Text 12"/>
          <p:cNvSpPr txBox="1"/>
          <p:nvPr/>
        </p:nvSpPr>
        <p:spPr>
          <a:xfrm>
            <a:off x="502920" y="36576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3611880"/>
            <a:ext cx="482803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forward-looking view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3886200"/>
            <a:ext cx="482803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Teams can't prioritize which parts or suppliers to fix next without a 30-day forecast.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0" cy="47091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37160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8F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737360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0" name="Text 18"/>
          <p:cNvSpPr txBox="1"/>
          <p:nvPr/>
        </p:nvSpPr>
        <p:spPr>
          <a:xfrm>
            <a:off x="6355080" y="173736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22008" y="1691640"/>
            <a:ext cx="47823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Monitoring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22008" y="1965960"/>
            <a:ext cx="478231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anomaly patterns — where failures cluster across parts, suppliers, chemistries.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2697480"/>
            <a:ext cx="420624" cy="420624"/>
          </a:xfrm>
          <a:prstGeom prst="ellipse">
            <a:avLst/>
          </a:prstGeom>
          <a:solidFill>
            <a:srgbClr val="3D5AA8"/>
          </a:solidFill>
        </p:spPr>
      </p:sp>
      <p:sp>
        <p:nvSpPr>
          <p:cNvPr id="24" name="Text 22"/>
          <p:cNvSpPr txBox="1"/>
          <p:nvPr/>
        </p:nvSpPr>
        <p:spPr>
          <a:xfrm>
            <a:off x="6355080" y="269748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22008" y="2651760"/>
            <a:ext cx="47823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 Analysis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22008" y="2926080"/>
            <a:ext cx="478231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Traces failures across part → supplier → chemistry → DTC code, connecting every dimension.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3657600"/>
            <a:ext cx="420624" cy="420624"/>
          </a:xfrm>
          <a:prstGeom prst="ellipse">
            <a:avLst/>
          </a:prstGeom>
          <a:solidFill>
            <a:srgbClr val="1E8F5F"/>
          </a:solidFill>
        </p:spPr>
      </p:sp>
      <p:sp>
        <p:nvSpPr>
          <p:cNvPr id="28" name="Text 26"/>
          <p:cNvSpPr txBox="1"/>
          <p:nvPr/>
        </p:nvSpPr>
        <p:spPr>
          <a:xfrm>
            <a:off x="6355080" y="3657600"/>
            <a:ext cx="42062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3611880"/>
            <a:ext cx="478231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Maintenance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22008" y="3886200"/>
            <a:ext cx="478231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Forecasts the next 30 days of failures with 95% confidence intervals, at every granularity.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4709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4709160"/>
            <a:ext cx="489204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unified Cortex Agent delivers all three capabilities through a single conversational interface.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</a:t>
            </a:r>
            <a:r>
              <a:rPr lang="en-I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Snow Coders 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 Vehicle Quality RCA Platform  |  Snowflake × Capgemini Hackathon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End-to-end data flow, entirely on Snowflake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2075688"/>
            <a:ext cx="14996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Source Data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12064" y="3547872"/>
            <a:ext cx="149961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tables: telemetry, parts, suppliers, DTC codes, chemistry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093976" y="2907792"/>
            <a:ext cx="304952" cy="265176"/>
          </a:xfrm>
          <a:prstGeom prst="rightArrow">
            <a:avLst/>
          </a:prstGeom>
          <a:solidFill>
            <a:srgbClr val="CADCFC"/>
          </a:solidFill>
        </p:spPr>
      </p:sp>
      <p:sp>
        <p:nvSpPr>
          <p:cNvPr id="8" name="Shape 6"/>
          <p:cNvSpPr/>
          <p:nvPr/>
        </p:nvSpPr>
        <p:spPr>
          <a:xfrm>
            <a:off x="2386584" y="196596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41448" y="2075688"/>
            <a:ext cx="14996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Gold Layer View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441448" y="3547872"/>
            <a:ext cx="149961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Deduplicated &amp; joined; fan-out and date bugs fixed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023360" y="2907792"/>
            <a:ext cx="304952" cy="265176"/>
          </a:xfrm>
          <a:prstGeom prst="rightArrow">
            <a:avLst/>
          </a:prstGeom>
          <a:solidFill>
            <a:srgbClr val="CADCFC"/>
          </a:solidFill>
        </p:spPr>
      </p:sp>
      <p:sp>
        <p:nvSpPr>
          <p:cNvPr id="12" name="Shape 10"/>
          <p:cNvSpPr/>
          <p:nvPr/>
        </p:nvSpPr>
        <p:spPr>
          <a:xfrm>
            <a:off x="4315968" y="196596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70832" y="2075688"/>
            <a:ext cx="14996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Projection Views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70832" y="3547872"/>
            <a:ext cx="149961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Fleet / supplier / part / chemistry, 30-day forecasts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952744" y="2907792"/>
            <a:ext cx="304952" cy="265176"/>
          </a:xfrm>
          <a:prstGeom prst="rightArrow">
            <a:avLst/>
          </a:prstGeom>
          <a:solidFill>
            <a:srgbClr val="CADCFC"/>
          </a:solidFill>
        </p:spPr>
      </p:sp>
      <p:sp>
        <p:nvSpPr>
          <p:cNvPr id="16" name="Shape 14"/>
          <p:cNvSpPr/>
          <p:nvPr/>
        </p:nvSpPr>
        <p:spPr>
          <a:xfrm>
            <a:off x="6245352" y="196596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0216" y="2075688"/>
            <a:ext cx="14996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View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3547872"/>
            <a:ext cx="149961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Cortex Analyst: relationships, metrics, verified queries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882128" y="2907792"/>
            <a:ext cx="304952" cy="265176"/>
          </a:xfrm>
          <a:prstGeom prst="rightArrow">
            <a:avLst/>
          </a:prstGeom>
          <a:solidFill>
            <a:srgbClr val="CADCFC"/>
          </a:solidFill>
        </p:spPr>
      </p:sp>
      <p:sp>
        <p:nvSpPr>
          <p:cNvPr id="20" name="Shape 18"/>
          <p:cNvSpPr/>
          <p:nvPr/>
        </p:nvSpPr>
        <p:spPr>
          <a:xfrm>
            <a:off x="8174736" y="196596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0" y="2075688"/>
            <a:ext cx="14996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Cortex Agent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3547872"/>
            <a:ext cx="149961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agent, 3 integrated capabilities, NL Q&amp;A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9811512" y="2907792"/>
            <a:ext cx="304952" cy="265176"/>
          </a:xfrm>
          <a:prstGeom prst="rightArrow">
            <a:avLst/>
          </a:prstGeom>
          <a:solidFill>
            <a:srgbClr val="CADCFC"/>
          </a:solidFill>
        </p:spPr>
      </p:sp>
      <p:sp>
        <p:nvSpPr>
          <p:cNvPr id="24" name="Shape 22"/>
          <p:cNvSpPr/>
          <p:nvPr/>
        </p:nvSpPr>
        <p:spPr>
          <a:xfrm>
            <a:off x="10104120" y="1965960"/>
            <a:ext cx="1609344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158984" y="2075688"/>
            <a:ext cx="14996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+ MCP Server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158984" y="3547872"/>
            <a:ext cx="149961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UI &amp; external AI tools via MCP protocol</a:t>
            </a:r>
            <a:endParaRPr lang="en-US" sz="78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434840"/>
            <a:ext cx="11155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stage runs natively on Snowflake — no data leaves the platform, and no external orchestration layer is required.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5193792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FIXES ALONG THE WAY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532120"/>
            <a:ext cx="82296" cy="8229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31" name="Text 29"/>
          <p:cNvSpPr txBox="1"/>
          <p:nvPr/>
        </p:nvSpPr>
        <p:spPr>
          <a:xfrm>
            <a:off x="713232" y="5440680"/>
            <a:ext cx="10881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Fan-out bug: deduped batch-variant PART_NUMBER rows (302,883 → 375,634 → fixed back to 302,883)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5833872"/>
            <a:ext cx="82296" cy="8229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33" name="Text 31"/>
          <p:cNvSpPr txBox="1"/>
          <p:nvPr/>
        </p:nvSpPr>
        <p:spPr>
          <a:xfrm>
            <a:off x="713232" y="5742432"/>
            <a:ext cx="10881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corruption: 2-digit year “0022” corrected to 2022 before any time-series work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6135624"/>
            <a:ext cx="82296" cy="82296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35" name="Text 33"/>
          <p:cNvSpPr txBox="1"/>
          <p:nvPr/>
        </p:nvSpPr>
        <p:spPr>
          <a:xfrm>
            <a:off x="713232" y="6044184"/>
            <a:ext cx="10881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date-spine built so zero-failure days are represented — unbiased failure-rate calculation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</a:t>
            </a:r>
            <a:r>
              <a:rPr lang="en-I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Snow Coders 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 Vehicle Quality RCA Platform  |  Snowflake × Capgemini Hackathon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Failures are concentrated, and the forecast is explainable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17320"/>
          <a:ext cx="59436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417320"/>
            <a:ext cx="5074920" cy="2880360"/>
          </a:xfrm>
          <a:prstGeom prst="roundRect">
            <a:avLst>
              <a:gd name="adj" fmla="val 254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57276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of 5 suppliers = 100% of risk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011680"/>
            <a:ext cx="466344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Traced to </a:t>
            </a: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parts</a:t>
            </a: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</a:t>
            </a: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chemistries</a:t>
            </a: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(Cobalt Dioxide, Lithium-Ion) — all failure codes are voltage-related, pointing to a fixable chemistry/voltage-stability issue at specific suppliers, not a fleet-wide design defect.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4480560"/>
            <a:ext cx="11155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4590288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FORECASTING METHOD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901184"/>
            <a:ext cx="777240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SNOWFLAKE.ML.FORECAST</a:t>
            </a:r>
            <a:r>
              <a:rPr lang="en-US" sz="11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underperformed on our sparse 59-day dataset (SMAPE ≈ 2.0, worst possible). We shipped a </a:t>
            </a: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Poisson rate-based projection</a:t>
            </a:r>
            <a:r>
              <a:rPr lang="en-US" sz="11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instead — statistically valid for sparse counts, fully explainable, and always non-negative.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03920" y="484632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</p:spPr>
      </p:sp>
      <p:sp>
        <p:nvSpPr>
          <p:cNvPr id="12" name="Text 9"/>
          <p:cNvSpPr txBox="1"/>
          <p:nvPr/>
        </p:nvSpPr>
        <p:spPr>
          <a:xfrm>
            <a:off x="8503920" y="4864608"/>
            <a:ext cx="3154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2,649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5486400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next-30-day fleet forecast (95% CI: 2,548–2,750)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</a:t>
            </a:r>
            <a:r>
              <a:rPr lang="en-I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Snow Coders 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 Vehicle Quality RCA Platform  |  Snowflake × Capgemini Hackathon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7315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VALUE &amp; INNOVATION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11155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matters, and what makes it different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3566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2,649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39112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 projected fleet-wide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 next 30 days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417320"/>
            <a:ext cx="3566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039112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suppliers driving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of projected risk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417320"/>
            <a:ext cx="3566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30 days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039112"/>
            <a:ext cx="3566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lead time to act before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 reach 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24316E"/>
          </a:solidFill>
        </p:spPr>
      </p:sp>
      <p:sp>
        <p:nvSpPr>
          <p:cNvPr id="11" name="Text 9"/>
          <p:cNvSpPr txBox="1"/>
          <p:nvPr/>
        </p:nvSpPr>
        <p:spPr>
          <a:xfrm>
            <a:off x="777240" y="2788920"/>
            <a:ext cx="106070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Illustrative impact: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 typical ~$800–$1,200 warranty-claim cost per battery repair, proactively fixing the 2 highest-risk parts before ~2,649 projected failures could avoid an estimated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$2.1M–$3.2M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 30-day warranty exposure — before brand and safety impact.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776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INNOVATION: MCP SERVER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279392"/>
            <a:ext cx="11155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native Snowflake MCP Server exposes our Cortex Agent as a standard Model Context Protocol tool — any MCP-compatible client (Claude, ChatGPT, internal copilots) can call it directly, governed by the same Snowflake roles. No custom API or gateway required.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21208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ENTIRELY ON SNOWFLAKE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5532120"/>
            <a:ext cx="1474013" cy="365760"/>
          </a:xfrm>
          <a:prstGeom prst="roundRect">
            <a:avLst>
              <a:gd name="adj" fmla="val 50000"/>
            </a:avLst>
          </a:prstGeom>
          <a:solidFill>
            <a:srgbClr val="2A377A"/>
          </a:solidFill>
        </p:spPr>
      </p:sp>
      <p:sp>
        <p:nvSpPr>
          <p:cNvPr id="16" name="Text 14"/>
          <p:cNvSpPr txBox="1"/>
          <p:nvPr/>
        </p:nvSpPr>
        <p:spPr>
          <a:xfrm>
            <a:off x="502920" y="5532120"/>
            <a:ext cx="1474013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Views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41525" y="5532120"/>
            <a:ext cx="1474013" cy="365760"/>
          </a:xfrm>
          <a:prstGeom prst="roundRect">
            <a:avLst>
              <a:gd name="adj" fmla="val 50000"/>
            </a:avLst>
          </a:prstGeom>
          <a:solidFill>
            <a:srgbClr val="2A377A"/>
          </a:solidFill>
        </p:spPr>
      </p:sp>
      <p:sp>
        <p:nvSpPr>
          <p:cNvPr id="18" name="Text 16"/>
          <p:cNvSpPr txBox="1"/>
          <p:nvPr/>
        </p:nvSpPr>
        <p:spPr>
          <a:xfrm>
            <a:off x="2141525" y="5532120"/>
            <a:ext cx="1474013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Cortex Analyst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80130" y="5532120"/>
            <a:ext cx="1393546" cy="365760"/>
          </a:xfrm>
          <a:prstGeom prst="roundRect">
            <a:avLst>
              <a:gd name="adj" fmla="val 50000"/>
            </a:avLst>
          </a:prstGeom>
          <a:solidFill>
            <a:srgbClr val="2A377A"/>
          </a:solidFill>
        </p:spPr>
      </p:sp>
      <p:sp>
        <p:nvSpPr>
          <p:cNvPr id="20" name="Text 18"/>
          <p:cNvSpPr txBox="1"/>
          <p:nvPr/>
        </p:nvSpPr>
        <p:spPr>
          <a:xfrm>
            <a:off x="3780130" y="5532120"/>
            <a:ext cx="139354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Cortex Agents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38267" y="553212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2A377A"/>
          </a:solidFill>
        </p:spPr>
      </p:sp>
      <p:sp>
        <p:nvSpPr>
          <p:cNvPr id="22" name="Text 20"/>
          <p:cNvSpPr txBox="1"/>
          <p:nvPr/>
        </p:nvSpPr>
        <p:spPr>
          <a:xfrm>
            <a:off x="5338267" y="5532120"/>
            <a:ext cx="11521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MCP Server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55003" y="5532120"/>
            <a:ext cx="2117750" cy="365760"/>
          </a:xfrm>
          <a:prstGeom prst="roundRect">
            <a:avLst>
              <a:gd name="adj" fmla="val 50000"/>
            </a:avLst>
          </a:prstGeom>
          <a:solidFill>
            <a:srgbClr val="2A377A"/>
          </a:solidFill>
        </p:spPr>
      </p:sp>
      <p:sp>
        <p:nvSpPr>
          <p:cNvPr id="24" name="Text 22"/>
          <p:cNvSpPr txBox="1"/>
          <p:nvPr/>
        </p:nvSpPr>
        <p:spPr>
          <a:xfrm>
            <a:off x="6655003" y="5532120"/>
            <a:ext cx="211775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in Snowflake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37346" y="5532120"/>
            <a:ext cx="1876349" cy="365760"/>
          </a:xfrm>
          <a:prstGeom prst="roundRect">
            <a:avLst>
              <a:gd name="adj" fmla="val 50000"/>
            </a:avLst>
          </a:prstGeom>
          <a:solidFill>
            <a:srgbClr val="2A377A"/>
          </a:solidFill>
        </p:spPr>
      </p:sp>
      <p:sp>
        <p:nvSpPr>
          <p:cNvPr id="26" name="Text 24"/>
          <p:cNvSpPr txBox="1"/>
          <p:nvPr/>
        </p:nvSpPr>
        <p:spPr>
          <a:xfrm>
            <a:off x="8937346" y="5532120"/>
            <a:ext cx="1876349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Poisson Forecasting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978286" y="5532120"/>
            <a:ext cx="1715414" cy="365760"/>
          </a:xfrm>
          <a:prstGeom prst="roundRect">
            <a:avLst>
              <a:gd name="adj" fmla="val 50000"/>
            </a:avLst>
          </a:prstGeom>
          <a:solidFill>
            <a:srgbClr val="2A377A"/>
          </a:solidFill>
        </p:spPr>
      </p:sp>
      <p:sp>
        <p:nvSpPr>
          <p:cNvPr id="28" name="Text 26"/>
          <p:cNvSpPr txBox="1"/>
          <p:nvPr/>
        </p:nvSpPr>
        <p:spPr>
          <a:xfrm>
            <a:off x="10978286" y="5532120"/>
            <a:ext cx="171541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Grants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6126480"/>
            <a:ext cx="11155680" cy="0"/>
          </a:xfrm>
          <a:prstGeom prst="line">
            <a:avLst/>
          </a:prstGeom>
          <a:noFill/>
          <a:ln w="12700">
            <a:solidFill>
              <a:srgbClr val="3B478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" y="62179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— questions welcome.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528816"/>
            <a:ext cx="11155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</a:t>
            </a:r>
            <a:r>
              <a:rPr lang="en-IN" altLang="en-US" sz="850" dirty="0">
                <a:solidFill>
                  <a:srgbClr val="8B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The Snow Coders </a:t>
            </a:r>
            <a:r>
              <a:rPr lang="en-US" sz="850" dirty="0">
                <a:solidFill>
                  <a:srgbClr val="8B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 Vehicle Quality RCA Platform  |  Snowflake × Capgemini Hackathon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4003</Words>
  <Application>WPS Presentation</Application>
  <PresentationFormat>On-screen Show (16:9)</PresentationFormat>
  <Paragraphs>162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KIIT</cp:lastModifiedBy>
  <cp:revision>2</cp:revision>
  <dcterms:created xsi:type="dcterms:W3CDTF">2026-09-23T02:19:00Z</dcterms:created>
  <dcterms:modified xsi:type="dcterms:W3CDTF">2026-09-23T03:31:54Z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62F0AFF05E4F41BDA9889F336719BBDD_12</vt:lpwstr>
  </property>
</Properties>
</file>